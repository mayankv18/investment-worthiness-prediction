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457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66360"/>
            <a:ext cx="12191695" cy="457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 panose="020F0502020204030204"/>
              </a:rPr>
              <a:t>Investment Worthy or Not</a:t>
            </a:r>
            <a:endParaRPr sz="5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E8B339"/>
                </a:solidFill>
                <a:latin typeface="Calibri" panose="020F0502020204030204"/>
              </a:rPr>
              <a:t>Machine Learning Based Investment Decision Prediction</a:t>
            </a:r>
            <a:endParaRPr sz="24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2367" y="3383280"/>
            <a:ext cx="3108960" cy="5486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2367" y="3383280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Business Analytics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41367" y="3383280"/>
            <a:ext cx="3108960" cy="5486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3383280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Machine Learning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970367" y="3383280"/>
            <a:ext cx="3108960" cy="5486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0367" y="3383280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Investment Decision Support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 panose="020F0502020204030204"/>
              </a:rPr>
              <a:t>A classroom project that explains each Python step from the Jupyter Notebook.</a:t>
            </a:r>
            <a:endParaRPr sz="16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0B2E4F"/>
                </a:solidFill>
                <a:latin typeface="Calibri" panose="020F0502020204030204"/>
              </a:rPr>
              <a:t>Binary Classification  •  Logistic Regression  •  Decision Tree  •  Hyperparameter Tuning</a:t>
            </a:r>
            <a:endParaRPr sz="16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555B66"/>
                </a:solidFill>
                <a:latin typeface="Calibri" panose="020F0502020204030204"/>
              </a:rPr>
              <a:t>Predicting whether an investment opportunity is worth investing — directly from the notebook code.</a:t>
            </a:r>
            <a:endParaRPr sz="13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Business Problem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3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Why machine learning for investment decisions?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5669280" cy="2926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109728" cy="292608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5394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Context — what investors actually do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1892808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555B66"/>
                </a:solidFill>
                <a:latin typeface="Calibri" panose="020F0502020204030204"/>
              </a:rPr>
              <a:t>• Investors study many signals before committing capital.</a:t>
            </a:r>
            <a:endParaRPr sz="14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555B66"/>
                </a:solidFill>
                <a:latin typeface="Calibri" panose="020F0502020204030204"/>
              </a:rPr>
              <a:t>  • They look at the company's financial health, growth, risk and market position.</a:t>
            </a:r>
            <a:endParaRPr sz="14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555B66"/>
                </a:solidFill>
                <a:latin typeface="Calibri" panose="020F0502020204030204"/>
              </a:rPr>
              <a:t>  • Manually weighing every factor for every opportunity is slow and inconsistent.</a:t>
            </a:r>
            <a:endParaRPr sz="14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555B66"/>
                </a:solidFill>
                <a:latin typeface="Calibri" panose="020F0502020204030204"/>
              </a:rPr>
              <a:t>  • A data-driven model can convert those signals into a clear Yes / No decision.</a:t>
            </a:r>
            <a:endParaRPr sz="14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55080" y="1508760"/>
            <a:ext cx="5440680" cy="2926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508760"/>
            <a:ext cx="5440680" cy="41148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54406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Problem Statement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7960" y="2057400"/>
            <a:ext cx="507492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Calibri" panose="020F0502020204030204"/>
              </a:rPr>
              <a:t>“Can Machine Learning predict whether an investment opportunity is worth investing in based on financial, business, and market-related factors?”</a:t>
            </a:r>
            <a:endParaRPr sz="18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1480" y="4617720"/>
            <a:ext cx="3749039" cy="178308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617720"/>
            <a:ext cx="3749039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617720"/>
            <a:ext cx="3749039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Financial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3474719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555B66"/>
                </a:solidFill>
                <a:latin typeface="Calibri" panose="020F0502020204030204"/>
              </a:rPr>
              <a:t>Annual Revenue • Revenue Growth • Profit Margin
ROE • Current Ratio • Debt-to-Equity</a:t>
            </a:r>
            <a:endParaRPr sz="13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43399" y="4617720"/>
            <a:ext cx="3749039" cy="178308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399" y="4617720"/>
            <a:ext cx="3749039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399" y="4617720"/>
            <a:ext cx="3749039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Business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80559" y="5074920"/>
            <a:ext cx="3474719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555B66"/>
                </a:solidFill>
                <a:latin typeface="Calibri" panose="020F0502020204030204"/>
              </a:rPr>
              <a:t>Customer Growth • Customer Retention
Management Experience • Business Risk</a:t>
            </a:r>
            <a:endParaRPr sz="13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75318" y="4617720"/>
            <a:ext cx="3749039" cy="178308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18" y="4617720"/>
            <a:ext cx="3749039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8" y="4617720"/>
            <a:ext cx="3749039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Investment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78" y="5074920"/>
            <a:ext cx="3474719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555B66"/>
                </a:solidFill>
                <a:latin typeface="Calibri" panose="020F0502020204030204"/>
              </a:rPr>
              <a:t>Expected ROI • Investment Amount
Market Share • Market Risk • Industry Growth</a:t>
            </a:r>
            <a:endParaRPr sz="13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Project Objective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4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What this project will deliver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777240" cy="1234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777240" cy="12344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E8B339"/>
                </a:solidFill>
                <a:latin typeface="Calibri" panose="020F0502020204030204"/>
              </a:rPr>
              <a:t>01</a:t>
            </a:r>
            <a:endParaRPr sz="28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25880" y="1490472"/>
            <a:ext cx="4526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Predict Investment Decision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5880" y="1874520"/>
            <a:ext cx="45262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>
                <a:solidFill>
                  <a:srgbClr val="555B66"/>
                </a:solidFill>
                <a:latin typeface="Calibri" panose="020F0502020204030204"/>
              </a:rPr>
              <a:t>Use historical data to predict Yes / No for new investment opportunities.</a:t>
            </a:r>
            <a:endParaRPr sz="115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777240" cy="1234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17320"/>
            <a:ext cx="777240" cy="12344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E8B339"/>
                </a:solidFill>
                <a:latin typeface="Calibri" panose="020F0502020204030204"/>
              </a:rPr>
              <a:t>02</a:t>
            </a:r>
            <a:endParaRPr sz="28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78040" y="1490472"/>
            <a:ext cx="4526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Analyse Important Factors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78040" y="1874520"/>
            <a:ext cx="45262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>
                <a:solidFill>
                  <a:srgbClr val="555B66"/>
                </a:solidFill>
                <a:latin typeface="Calibri" panose="020F0502020204030204"/>
              </a:rPr>
              <a:t>Identify which financial, business &amp; market signals drive the decision.</a:t>
            </a:r>
            <a:endParaRPr sz="115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1480" y="274320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743200"/>
            <a:ext cx="777240" cy="1234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743200"/>
            <a:ext cx="777240" cy="12344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E8B339"/>
                </a:solidFill>
                <a:latin typeface="Calibri" panose="020F0502020204030204"/>
              </a:rPr>
              <a:t>03</a:t>
            </a:r>
            <a:endParaRPr sz="28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25880" y="2816352"/>
            <a:ext cx="4526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Build Classification Models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25880" y="3200400"/>
            <a:ext cx="45262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>
                <a:solidFill>
                  <a:srgbClr val="555B66"/>
                </a:solidFill>
                <a:latin typeface="Calibri" panose="020F0502020204030204"/>
              </a:rPr>
              <a:t>Train Logistic Regression and Decision Tree classifiers.</a:t>
            </a:r>
            <a:endParaRPr sz="115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63640" y="274320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743200"/>
            <a:ext cx="777240" cy="1234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743200"/>
            <a:ext cx="777240" cy="12344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E8B339"/>
                </a:solidFill>
                <a:latin typeface="Calibri" panose="020F0502020204030204"/>
              </a:rPr>
              <a:t>04</a:t>
            </a:r>
            <a:endParaRPr sz="28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78040" y="2816352"/>
            <a:ext cx="4526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Compare Model Performance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78040" y="3200400"/>
            <a:ext cx="45262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>
                <a:solidFill>
                  <a:srgbClr val="555B66"/>
                </a:solidFill>
                <a:latin typeface="Calibri" panose="020F0502020204030204"/>
              </a:rPr>
              <a:t>Compare Accuracy, Precision, Recall and F1-score side by side.</a:t>
            </a:r>
            <a:endParaRPr sz="115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11480" y="406908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069080"/>
            <a:ext cx="777240" cy="1234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069080"/>
            <a:ext cx="777240" cy="12344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E8B339"/>
                </a:solidFill>
                <a:latin typeface="Calibri" panose="020F0502020204030204"/>
              </a:rPr>
              <a:t>05</a:t>
            </a:r>
            <a:endParaRPr sz="28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25880" y="4142232"/>
            <a:ext cx="4526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Perform Hyperparameter Tuning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5880" y="4526280"/>
            <a:ext cx="45262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>
                <a:solidFill>
                  <a:srgbClr val="555B66"/>
                </a:solidFill>
                <a:latin typeface="Calibri" panose="020F0502020204030204"/>
              </a:rPr>
              <a:t>Use GridSearchCV to improve the models.</a:t>
            </a:r>
            <a:endParaRPr sz="115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63640" y="406908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069080"/>
            <a:ext cx="777240" cy="1234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069080"/>
            <a:ext cx="777240" cy="12344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E8B339"/>
                </a:solidFill>
                <a:latin typeface="Calibri" panose="020F0502020204030204"/>
              </a:rPr>
              <a:t>06</a:t>
            </a:r>
            <a:endParaRPr sz="28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78040" y="4142232"/>
            <a:ext cx="4526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Predict for New User Inputs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178040" y="4526280"/>
            <a:ext cx="45262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>
                <a:solidFill>
                  <a:srgbClr val="555B66"/>
                </a:solidFill>
                <a:latin typeface="Calibri" panose="020F0502020204030204"/>
              </a:rPr>
              <a:t>Build an interactive input pipeline that returns an investment recommendation.</a:t>
            </a:r>
            <a:endParaRPr sz="115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11480" y="5394960"/>
            <a:ext cx="5532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5394960"/>
            <a:ext cx="777240" cy="1234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394960"/>
            <a:ext cx="777240" cy="12344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>
                <a:solidFill>
                  <a:srgbClr val="E8B339"/>
                </a:solidFill>
                <a:latin typeface="Calibri" panose="020F0502020204030204"/>
              </a:rPr>
              <a:t>07</a:t>
            </a:r>
            <a:endParaRPr sz="28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325880" y="5468112"/>
            <a:ext cx="4526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Generate Business Recommendations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325880" y="5852160"/>
            <a:ext cx="45262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>
                <a:solidFill>
                  <a:srgbClr val="555B66"/>
                </a:solidFill>
                <a:latin typeface="Calibri" panose="020F0502020204030204"/>
              </a:rPr>
              <a:t>Translate model insights into business-level guidance.</a:t>
            </a:r>
            <a:endParaRPr sz="115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Project Workflow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5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From raw CSV to business recommendation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01. Business Problem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1481328" y="1801368"/>
            <a:ext cx="329184" cy="54864"/>
          </a:xfrm>
          <a:prstGeom prst="downArrow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56232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02. Dataset Collection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1481328" y="2240280"/>
            <a:ext cx="329184" cy="54864"/>
          </a:xfrm>
          <a:prstGeom prst="downArrow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295144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95144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03. Data Understanding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1481328" y="2679192"/>
            <a:ext cx="329184" cy="54864"/>
          </a:xfrm>
          <a:prstGeom prst="downArrow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34056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34056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04. Data Cleaning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1481328" y="3118104"/>
            <a:ext cx="329184" cy="54864"/>
          </a:xfrm>
          <a:prstGeom prst="downArrow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172968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72968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05. EDA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1481328" y="3557016"/>
            <a:ext cx="329184" cy="54864"/>
          </a:xfrm>
          <a:prstGeom prst="downArrow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11880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06. Feature Preparation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Down Arrow 24"/>
          <p:cNvSpPr/>
          <p:nvPr/>
        </p:nvSpPr>
        <p:spPr>
          <a:xfrm>
            <a:off x="1481328" y="3995928"/>
            <a:ext cx="329184" cy="54864"/>
          </a:xfrm>
          <a:prstGeom prst="downArrow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50792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50792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07. Train-Test Split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1481328" y="4434840"/>
            <a:ext cx="329184" cy="54864"/>
          </a:xfrm>
          <a:prstGeom prst="downArrow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489704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89704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08. Model Building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1481328" y="4873752"/>
            <a:ext cx="329184" cy="54864"/>
          </a:xfrm>
          <a:prstGeom prst="downArrow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928616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28616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09. Model Evaluation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4" name="Down Arrow 33"/>
          <p:cNvSpPr/>
          <p:nvPr/>
        </p:nvSpPr>
        <p:spPr>
          <a:xfrm>
            <a:off x="1481328" y="5312664"/>
            <a:ext cx="329184" cy="54864"/>
          </a:xfrm>
          <a:prstGeom prst="downArrow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367528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67528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10. Hyperparameter Tuning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Down Arrow 36"/>
          <p:cNvSpPr/>
          <p:nvPr/>
        </p:nvSpPr>
        <p:spPr>
          <a:xfrm>
            <a:off x="1481328" y="5751576"/>
            <a:ext cx="329184" cy="54864"/>
          </a:xfrm>
          <a:prstGeom prst="downArrow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806440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806440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11. User Input Prediction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0" name="Down Arrow 39"/>
          <p:cNvSpPr/>
          <p:nvPr/>
        </p:nvSpPr>
        <p:spPr>
          <a:xfrm>
            <a:off x="1481328" y="6190488"/>
            <a:ext cx="329184" cy="54864"/>
          </a:xfrm>
          <a:prstGeom prst="downArrow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6245352"/>
            <a:ext cx="2286000" cy="384048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245352"/>
            <a:ext cx="20116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12. Business Insights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063240" y="1417320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46120" y="1417320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Business Problem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40680" y="1417320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Frame the investment decision as a Yes / No ML task.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063240" y="1856232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46120" y="1856232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Dataset Collection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40680" y="1856232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Load Investment_Worthy_Raw_Dataset_.csv.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063240" y="2295144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46120" y="2295144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Data Understanding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40680" y="2295144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Inspect shape, dtypes, unique counts and sample rows.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063240" y="2734056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46120" y="2734056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Data Cleaning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440680" y="2734056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Handle missing values, ensure consistent dtypes.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063240" y="3172968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46120" y="3172968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EDA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40680" y="3172968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Visualise how each feature relates to the decision.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063240" y="3611880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46120" y="3611880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Feature Preparation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40680" y="3611880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Select features and encode categorical variables.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063240" y="4050792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46120" y="4050792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Train-Test Split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40680" y="4050792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80 % training, 20 % testing with random_state = 42.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063240" y="4489704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46120" y="4489704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Model Building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440680" y="4489704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Train Logistic Regression and Decision Tree.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3063240" y="4928616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46120" y="4928616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Model Evaluation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440680" y="4928616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Accuracy, Precision, Recall, F1-score, Confusion Matrix.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063240" y="5367528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46120" y="5367528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Hyperparameter Tuning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440680" y="5367528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GridSearchCV to find the best parameters.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063240" y="5806440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46120" y="5806440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User Input Prediction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440680" y="5806440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Run new inputs through the tuned model.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063240" y="6245352"/>
            <a:ext cx="873252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46120" y="6245352"/>
            <a:ext cx="21945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50" b="1">
                <a:solidFill>
                  <a:srgbClr val="0B2E4F"/>
                </a:solidFill>
                <a:latin typeface="Calibri" panose="020F0502020204030204"/>
              </a:rPr>
              <a:t>Business Insights</a:t>
            </a:r>
            <a:endParaRPr sz="125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440680" y="6245352"/>
            <a:ext cx="6172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Identify which features matter most.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Dataset Overview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6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What the raw investment dataset contains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651760" cy="1280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2651760" cy="914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Total Records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1828800"/>
            <a:ext cx="265176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127390"/>
                </a:solidFill>
                <a:latin typeface="Calibri" panose="020F0502020204030204"/>
              </a:rPr>
              <a:t>10,000</a:t>
            </a:r>
            <a:endParaRPr sz="2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00400" y="1417320"/>
            <a:ext cx="2651760" cy="1280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417320"/>
            <a:ext cx="2651760" cy="91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554480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Total Columns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1828800"/>
            <a:ext cx="265176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0B2E4F"/>
                </a:solidFill>
                <a:latin typeface="Calibri" panose="020F0502020204030204"/>
              </a:rPr>
              <a:t>19</a:t>
            </a:r>
            <a:endParaRPr sz="2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89320" y="1417320"/>
            <a:ext cx="2651760" cy="1280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417320"/>
            <a:ext cx="2651760" cy="9144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1554480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Target Variable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89320" y="2091690"/>
            <a:ext cx="2651760" cy="3429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E8B339"/>
                </a:solidFill>
                <a:latin typeface="Calibri" panose="020F0502020204030204"/>
              </a:rPr>
              <a:t>Investment_Decision</a:t>
            </a:r>
            <a:endParaRPr sz="20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778240" y="1417320"/>
            <a:ext cx="3017520" cy="1280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0" y="1417320"/>
            <a:ext cx="3017520" cy="914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55448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Class Balance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78240" y="1828800"/>
            <a:ext cx="301752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127390"/>
                </a:solidFill>
                <a:latin typeface="Calibri" panose="020F0502020204030204"/>
              </a:rPr>
              <a:t>6,456 Yes  •  3,544 No</a:t>
            </a:r>
            <a:endParaRPr sz="2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1480" y="2834640"/>
            <a:ext cx="3749039" cy="352044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834640"/>
            <a:ext cx="3749039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834640"/>
            <a:ext cx="3749039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Target Variable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3291840"/>
            <a:ext cx="338327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Investment_Decision — Yes / No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Yes = Investment Worthy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No  = Not Investment Worthy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Encoded later as 1 / 0 using LabelEncoder.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251960" y="2834640"/>
            <a:ext cx="3749039" cy="3520440"/>
          </a:xfrm>
          <a:prstGeom prst="rect">
            <a:avLst/>
          </a:prstGeom>
          <a:solidFill>
            <a:srgbClr val="FFFFFF"/>
          </a:solidFill>
          <a:ln>
            <a:solidFill>
              <a:srgbClr val="1273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2834640"/>
            <a:ext cx="3749039" cy="36576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2834640"/>
            <a:ext cx="3749039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Numerical Variables (14)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34840" y="3291840"/>
            <a:ext cx="338327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Annual_Revenue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Revenue_Growth_Pct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Profit_Margin_Pct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Debt_to_Equity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Current_Ratio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ROE_Pct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Market_Share_Pct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Customer_Growth_Pct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Customer_Retention_Pct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Management_Experience_Years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Expected_ROI_Pct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Investment_Amount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Industry_Growth_Pct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Company_Age_Years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92440" y="2834640"/>
            <a:ext cx="370332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2834640"/>
            <a:ext cx="3703320" cy="36576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2834640"/>
            <a:ext cx="370332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Categorical Variables (5)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75320" y="3291840"/>
            <a:ext cx="33375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Company_Name  (unique ID, dropped from X)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Industry        (e.g. FMCG, Healthcare, Tech)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Business_Risk   (Low / Medium / High)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Market_Risk     (Low / Medium / High)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555B66"/>
                </a:solidFill>
                <a:latin typeface="Calibri" panose="020F0502020204030204"/>
              </a:rPr>
              <a:t>•  Investment_Decision  (target)</a:t>
            </a:r>
            <a:endParaRPr sz="115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Step 1 — Load &amp; Explore the Dataset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7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Real imports and the exact .read_csv() command from cell 1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658368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64008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Imports — cell 0 of the notebook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673352"/>
            <a:ext cx="6583680" cy="198424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6492240" cy="18928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import pandas as pd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import matplotlib.pyplot as plt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import seaborn as sns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from sklearn.model_selection import train_test_split, GridSearchCV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from sklearn.linear_model import LogisticRegression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from sklearn.metrics import accuracy_score, confusion_matrix,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7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                       classification_report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8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from sklearn.preprocessing import LabelEncoder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9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from sklearn.metrics import precision_score, f1_score, recall_score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3749039"/>
            <a:ext cx="658368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64008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Data loading — cell 1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4005071"/>
            <a:ext cx="6583680" cy="84124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50791"/>
            <a:ext cx="6492240" cy="7498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df = pd.read_csv(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    "/content/Investment_Worthy_Raw_Dataset_.csv"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)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132320" y="1417320"/>
            <a:ext cx="4663440" cy="2240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1417320"/>
            <a:ext cx="109728" cy="224028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463040"/>
            <a:ext cx="4389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Imports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0" y="1801368"/>
            <a:ext cx="4389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• pandas → tables (DataFrame).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matplotlib / seaborn → EDA charts.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sklearn models &amp; metrics → training + evaluation.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132320" y="3749039"/>
            <a:ext cx="4663440" cy="2606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0" y="3749039"/>
            <a:ext cx="109728" cy="26060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794759"/>
            <a:ext cx="4389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pd.read_csv()  — what &amp; why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0" y="4133087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• Reads the CSV file from disk.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Stores it in `df` (a Pandas DataFrame).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`df` becomes the working table for every later step.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We will inspect, clean and model from `df`.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1480" y="4937760"/>
            <a:ext cx="658368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937760"/>
            <a:ext cx="64008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Quick-explore commands used across cells 2–15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11480" y="5193792"/>
            <a:ext cx="6583680" cy="134416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39512"/>
            <a:ext cx="6492240" cy="125272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df.head()       # first 5 rows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df.shape        # (10000, 19)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df.info()       # column dtypes + non-null counts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df.describe()   # numeric summary stats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df.isnull().sum()    # count of missing values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df.dtypes            # column data types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Step 2 — Data Cleaning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8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Real cells 3, 7 and 13–15 from the notebook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694944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7665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Find missing values &amp; impute with the median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6949440" cy="390448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64792"/>
            <a:ext cx="6858000" cy="3813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df.isnull().sum()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# Revenue_Growth_Pct, Profit_Margin_Pct, Current_Ratio,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# Market_Share_Pct, Customer_Retention_Pct — 200 each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df["Revenue_Growth_Pct"]   = df["Revenue_Growth_Pct"].fillna(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    df["Revenue_Growth_Pct"].median())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7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df["Profit_Margin_Pct"]    = df["Profit_Margin_Pct"].fillna(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8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    df["Profit_Margin_Pct"].median())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9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df["Current_Ratio"]        = df["Current_Ratio"].fillna(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10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   df["Current_Ratio"].median())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11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df["Market_Share_Pct"]     = df["Market_Share_Pct"].fillna(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12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    df["Market_Share_Pct"].median())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13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df["Customer_Retention_Pct"] = df["Customer_Retention_Pct"]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14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    .fillna(df["Customer_Retention_Pct"].median())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98079" y="1463040"/>
            <a:ext cx="429768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463040"/>
            <a:ext cx="109728" cy="19202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150876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What does it do?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0959" y="1847088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55B66"/>
                </a:solidFill>
                <a:latin typeface="Calibri" panose="020F0502020204030204"/>
              </a:rPr>
              <a:t>• Counts missing values per column.</a:t>
            </a:r>
            <a:endParaRPr sz="11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Fills every missing numeric value with the column median.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After this, `df.isnull().sum()` returns 0 for every column.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98079" y="3474720"/>
            <a:ext cx="2057400" cy="2194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474720"/>
            <a:ext cx="109728" cy="21945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59" y="3520440"/>
            <a:ext cx="1783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Why median?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0959" y="3858768"/>
            <a:ext cx="1783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• Median is robust to outliers.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555B66"/>
                </a:solidFill>
                <a:latin typeface="Calibri" panose="020F0502020204030204"/>
              </a:rPr>
              <a:t>  • Mean can be pulled by extreme values.</a:t>
            </a:r>
            <a:endParaRPr sz="10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646920" y="3474720"/>
            <a:ext cx="2194560" cy="2194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46920" y="3474720"/>
            <a:ext cx="109728" cy="219456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3520440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Result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29800" y="3858768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• 0 null values in any column.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555B66"/>
                </a:solidFill>
                <a:latin typeface="Calibri" panose="020F0502020204030204"/>
              </a:rPr>
              <a:t>  • 10 000 rows preserved (df.shape → (10000, 19)).</a:t>
            </a:r>
            <a:endParaRPr sz="10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1480" y="5715000"/>
            <a:ext cx="694944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715000"/>
            <a:ext cx="67665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Duplicates &amp; data types — actual outputs from cells 13–15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11480" y="5971032"/>
            <a:ext cx="6949440" cy="52120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971032"/>
            <a:ext cx="6858000" cy="4297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000" b="1">
                <a:solidFill>
                  <a:srgbClr val="FFD566"/>
                </a:solidFill>
                <a:latin typeface="Consolas" panose="020B0609020204030204"/>
              </a:rPr>
              <a:t>df.duplicated().sum()            # 0  → no duplicate rows</a:t>
            </a:r>
            <a:endParaRPr sz="10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000">
                <a:solidFill>
                  <a:srgbClr val="EAECF1"/>
                </a:solidFill>
                <a:latin typeface="Consolas" panose="020B0609020204030204"/>
              </a:rPr>
              <a:t>df['Company_Name'].duplicated().sum()   # 0  → all IDs unique</a:t>
            </a:r>
            <a:endParaRPr sz="10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000">
                <a:solidFill>
                  <a:srgbClr val="EAECF1"/>
                </a:solidFill>
                <a:latin typeface="Consolas" panose="020B0609020204030204"/>
              </a:rPr>
              <a:t>df.dtypes           # 19 columns: 1 int64, 13 float64, 5 object</a:t>
            </a:r>
            <a:endParaRPr sz="100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Step 3 — Exploratory Data Analysis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9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How each feature relates to Investment_Decision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393192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ell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840480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200400"/>
            <a:ext cx="3840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0B2E4F"/>
                </a:solidFill>
                <a:latin typeface="Calibri" panose="020F0502020204030204"/>
              </a:rPr>
              <a:t>Investment Decision Distribution</a:t>
            </a:r>
            <a:endParaRPr sz="11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38404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Yes = 6,456  •  No = 3,544. Slight tilt towards worthy, fairly balanced.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1480" y="4023360"/>
            <a:ext cx="393192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ell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69080"/>
            <a:ext cx="3840480" cy="1691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5806440"/>
            <a:ext cx="3840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0B2E4F"/>
                </a:solidFill>
                <a:latin typeface="Calibri" panose="020F0502020204030204"/>
              </a:rPr>
              <a:t>Avg Revenue Growth</a:t>
            </a:r>
            <a:endParaRPr sz="11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6080760"/>
            <a:ext cx="38404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Yes ≈ 16.41 %  vs  No ≈ 7.89 %. Strong positive separator.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11480" y="6446520"/>
            <a:ext cx="11384280" cy="914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6446520"/>
            <a:ext cx="109728" cy="914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492240"/>
            <a:ext cx="11109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Why this matters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4360" y="6464808"/>
            <a:ext cx="11109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• The clearest separators are Expected ROI, Profit Margin and Revenue Growth — these later become strong features in the Logistic Regression and Decision Tree models.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432935" y="1390015"/>
            <a:ext cx="7602855" cy="2541905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cell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335" y="1440180"/>
            <a:ext cx="7439660" cy="2119630"/>
          </a:xfrm>
          <a:prstGeom prst="rect">
            <a:avLst/>
          </a:prstGeom>
        </p:spPr>
      </p:pic>
      <p:sp>
        <p:nvSpPr>
          <p:cNvPr id="40" name="TextBox 9"/>
          <p:cNvSpPr txBox="1"/>
          <p:nvPr/>
        </p:nvSpPr>
        <p:spPr>
          <a:xfrm>
            <a:off x="4585335" y="3429000"/>
            <a:ext cx="5669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B2E4F"/>
                </a:solidFill>
                <a:latin typeface="Calibri" panose="020F0502020204030204"/>
              </a:rPr>
              <a:t>Investment Decision by Business Risk</a:t>
            </a:r>
            <a:endParaRPr sz="12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41" name="TextBox 10"/>
          <p:cNvSpPr txBox="1"/>
          <p:nvPr/>
        </p:nvSpPr>
        <p:spPr>
          <a:xfrm>
            <a:off x="4585335" y="3601720"/>
            <a:ext cx="3840480" cy="2768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Yes = 6,456  •  No = 3,544. Slight tilt towards worthy, fairly balanced.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433570" y="4065270"/>
            <a:ext cx="7602220" cy="240284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ell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515" y="4111625"/>
            <a:ext cx="6822440" cy="1800860"/>
          </a:xfrm>
          <a:prstGeom prst="rect">
            <a:avLst/>
          </a:prstGeom>
        </p:spPr>
      </p:pic>
      <p:sp>
        <p:nvSpPr>
          <p:cNvPr id="44" name="TextBox 13"/>
          <p:cNvSpPr txBox="1"/>
          <p:nvPr/>
        </p:nvSpPr>
        <p:spPr>
          <a:xfrm>
            <a:off x="4585335" y="5806440"/>
            <a:ext cx="5669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B2E4F"/>
                </a:solidFill>
                <a:latin typeface="Calibri" panose="020F0502020204030204"/>
              </a:rPr>
              <a:t>Investment Decision by Market Risk</a:t>
            </a:r>
            <a:endParaRPr sz="12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45" name="TextBox 14"/>
          <p:cNvSpPr txBox="1"/>
          <p:nvPr/>
        </p:nvSpPr>
        <p:spPr>
          <a:xfrm>
            <a:off x="4585335" y="6029325"/>
            <a:ext cx="5669280" cy="42037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 panose="020F0502020204030204"/>
              </a:rPr>
              <a:t>Low market risk → 3,945 Yes vs 1,103 No. High market risk → 944 Yes vs 943 No — almost a 50/50 split. Risk clearly tilts the decision.</a:t>
            </a:r>
            <a:endParaRPr sz="11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93675"/>
            <a:ext cx="10972800" cy="4356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Step 3 (cont.) —  Correlation Heatmap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10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25082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39"/>
            <a:ext cx="5669280" cy="20447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 sz="11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5669280" cy="219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 sz="12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39"/>
            <a:ext cx="5669280" cy="20447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 sz="11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1480" y="960120"/>
            <a:ext cx="113842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ell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70" y="1059815"/>
            <a:ext cx="11129010" cy="51803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6355080"/>
            <a:ext cx="11201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 panose="020F0502020204030204"/>
              </a:rPr>
              <a:t>What the heatmap tells us: positive correlation between Expected_ROI_Pct, Profit_Margin_Pct and Investment_Decision; Debt_to_Equity is negatively correlated.</a:t>
            </a:r>
            <a:endParaRPr sz="11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Step 4 — Feature (X) &amp; Target (y) Selection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11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Real code from cell 29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694944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7665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X = independent variables   •   y = target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6949440" cy="431596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64792"/>
            <a:ext cx="6858000" cy="422452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200" b="1">
                <a:solidFill>
                  <a:srgbClr val="FFD566"/>
                </a:solidFill>
                <a:latin typeface="Consolas" panose="020B0609020204030204"/>
              </a:rPr>
              <a:t>X = df[[</a:t>
            </a:r>
            <a:endParaRPr sz="12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    'Industry',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    'Revenue_Growth_Pct', 'Profit_Margin_Pct',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    'Debt_to_Equity',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    'ROE_Pct', 'Customer_Growth_Pct',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    'Customer_Retention_Pct',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 7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    'Business_Risk',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 8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    'Expected_ROI_Pct',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 9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    'Investment_Amount',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10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    'Industry_Growth_Pct'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11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]]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12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 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6E768A"/>
                </a:solidFill>
                <a:latin typeface="Consolas" panose="020B0609020204030204"/>
              </a:rPr>
              <a:t>13  </a:t>
            </a:r>
            <a:r>
              <a:rPr sz="1200">
                <a:solidFill>
                  <a:srgbClr val="EAECF1"/>
                </a:solidFill>
                <a:latin typeface="Consolas" panose="020B0609020204030204"/>
              </a:rPr>
              <a:t>y = df['Investment_Decision']</a:t>
            </a:r>
            <a:endParaRPr sz="120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98079" y="1463040"/>
            <a:ext cx="4297680" cy="2057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463040"/>
            <a:ext cx="109728" cy="20574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150876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What is X?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0959" y="1847088"/>
            <a:ext cx="4023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55B66"/>
                </a:solidFill>
                <a:latin typeface="Calibri" panose="020F0502020204030204"/>
              </a:rPr>
              <a:t>• 11 features chosen for the model.</a:t>
            </a:r>
            <a:endParaRPr sz="11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Drops Company_Name (unique ID, no signal).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Drops Annual_Revenue &amp; Current_Ratio (kept on the side).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98079" y="3611880"/>
            <a:ext cx="4297680" cy="2423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611880"/>
            <a:ext cx="109728" cy="242316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59" y="365760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What is y?  Why this target?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0959" y="3995928"/>
            <a:ext cx="40233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55B66"/>
                </a:solidFill>
                <a:latin typeface="Calibri" panose="020F0502020204030204"/>
              </a:rPr>
              <a:t>• y = Investment_Decision (Yes / No, encoded 1 / 0).</a:t>
            </a:r>
            <a:endParaRPr sz="11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This is exactly the column the investor needs.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Yes = 1 → Investment Worthy,  No = 0 → Not Worthy.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Mapping categorical → numeric happens via LabelEncoder (cell 26).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Step 5 — Train / Test Split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12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Real code from cell 30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694944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7665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Split the data — cell 30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6949440" cy="175564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64792"/>
            <a:ext cx="6858000" cy="16642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400" b="1">
                <a:solidFill>
                  <a:srgbClr val="FFD566"/>
                </a:solidFill>
                <a:latin typeface="Consolas" panose="020B0609020204030204"/>
              </a:rPr>
              <a:t>X_train, X_test, y_train, y_test = train_test_split(</a:t>
            </a:r>
            <a:endParaRPr sz="14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400">
                <a:solidFill>
                  <a:srgbClr val="EAECF1"/>
                </a:solidFill>
                <a:latin typeface="Consolas" panose="020B0609020204030204"/>
              </a:rPr>
              <a:t>    X, y,</a:t>
            </a:r>
            <a:endParaRPr sz="14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400" b="1">
                <a:solidFill>
                  <a:srgbClr val="FFD566"/>
                </a:solidFill>
                <a:latin typeface="Consolas" panose="020B0609020204030204"/>
              </a:rPr>
              <a:t>    test_size = 0.2,</a:t>
            </a:r>
            <a:endParaRPr sz="14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400" b="1">
                <a:solidFill>
                  <a:srgbClr val="FFD566"/>
                </a:solidFill>
                <a:latin typeface="Consolas" panose="020B0609020204030204"/>
              </a:rPr>
              <a:t>    random_state = 42</a:t>
            </a:r>
            <a:endParaRPr sz="14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400">
                <a:solidFill>
                  <a:srgbClr val="EAECF1"/>
                </a:solidFill>
                <a:latin typeface="Consolas" panose="020B0609020204030204"/>
              </a:rPr>
              <a:t>)</a:t>
            </a:r>
            <a:endParaRPr sz="140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3611880"/>
            <a:ext cx="6949440" cy="2011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611880"/>
            <a:ext cx="109728" cy="201168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57600"/>
            <a:ext cx="6675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Why split?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3995928"/>
            <a:ext cx="6675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555B66"/>
                </a:solidFill>
                <a:latin typeface="Calibri" panose="020F0502020204030204"/>
              </a:rPr>
              <a:t>• Train on 80 % → model learns patterns.</a:t>
            </a:r>
            <a:endParaRPr sz="13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55B66"/>
                </a:solidFill>
                <a:latin typeface="Calibri" panose="020F0502020204030204"/>
              </a:rPr>
              <a:t>  • Test on 20 % → honest evaluation on unseen data.</a:t>
            </a:r>
            <a:endParaRPr sz="13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55B66"/>
                </a:solidFill>
                <a:latin typeface="Calibri" panose="020F0502020204030204"/>
              </a:rPr>
              <a:t>  • `random_state=42` makes the split reproducible (same rows every run).</a:t>
            </a:r>
            <a:endParaRPr sz="13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55B66"/>
                </a:solidFill>
                <a:latin typeface="Calibri" panose="020F0502020204030204"/>
              </a:rPr>
              <a:t>  • `X.shape = (10000, 11)` → train (8000, 11) and test (2000, 11).</a:t>
            </a:r>
            <a:endParaRPr sz="13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89520" y="1463040"/>
            <a:ext cx="3364992" cy="82296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54512" y="1463040"/>
            <a:ext cx="841248" cy="82296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463040"/>
            <a:ext cx="3364992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80 % Training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54512" y="1463040"/>
            <a:ext cx="841248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0B2E4F"/>
                </a:solidFill>
                <a:latin typeface="Calibri" panose="020F0502020204030204"/>
              </a:rPr>
              <a:t>20 % Test</a:t>
            </a:r>
            <a:endParaRPr sz="11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89520" y="2423160"/>
            <a:ext cx="4206240" cy="3291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2423160"/>
            <a:ext cx="109728" cy="32918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468880"/>
            <a:ext cx="39319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Parameter explainer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0" y="2807208"/>
            <a:ext cx="3931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• X  → input features (independent vars).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y  → target (Investment_Decision).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test_size = 0.2 → 20 % held out for testing.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random_state = 42 → reproducible split.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Result: 8,000 train rows + 2,000 test rows.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Model 1 — Logistic Regression (base, before tuning)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13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Real cells 31–34 from the notebook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676656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5836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Step 1 — create, train, predict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6766560" cy="198424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64792"/>
            <a:ext cx="6675120" cy="18928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from sklearn.linear_model import LogisticRegression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 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model = LogisticRegression()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model.fit(X_train, y_train)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 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y_pred = model.predict(X_test)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3794760"/>
            <a:ext cx="676656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65836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Step 2 — evaluate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4050792"/>
            <a:ext cx="6766560" cy="207568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96512"/>
            <a:ext cx="6675120" cy="19842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from sklearn.metrics import (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    classification_report, confusion_matrix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)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 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print(classification_report(y_test, y_pred))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cm = confusion_matrix(y_test, y_pred)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7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print(cm)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06640" y="1463040"/>
            <a:ext cx="224028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1463040"/>
            <a:ext cx="2240280" cy="914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600200"/>
            <a:ext cx="22402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Accuracy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06640" y="1874520"/>
            <a:ext cx="224028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127390"/>
                </a:solidFill>
                <a:latin typeface="Calibri" panose="020F0502020204030204"/>
              </a:rPr>
              <a:t>0.80</a:t>
            </a:r>
            <a:endParaRPr sz="2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738360" y="1463040"/>
            <a:ext cx="205740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38360" y="1463040"/>
            <a:ext cx="2057400" cy="91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600200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F1 Score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38360" y="1874520"/>
            <a:ext cx="20574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0B2E4F"/>
                </a:solidFill>
                <a:latin typeface="Calibri" panose="020F0502020204030204"/>
              </a:rPr>
              <a:t>0.85</a:t>
            </a:r>
            <a:endParaRPr sz="2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06640" y="2651760"/>
            <a:ext cx="224028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2651760"/>
            <a:ext cx="2240280" cy="9144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22402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Precision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06640" y="3063240"/>
            <a:ext cx="224028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Calibri" panose="020F0502020204030204"/>
              </a:rPr>
              <a:t>0.82</a:t>
            </a:r>
            <a:endParaRPr sz="24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738360" y="2651760"/>
            <a:ext cx="205740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38360" y="2651760"/>
            <a:ext cx="2057400" cy="9144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788920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Recall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38360" y="3063240"/>
            <a:ext cx="20574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Calibri" panose="020F0502020204030204"/>
              </a:rPr>
              <a:t>0.89</a:t>
            </a:r>
            <a:endParaRPr sz="2400" b="1">
              <a:solidFill>
                <a:srgbClr val="E8B339"/>
              </a:solidFill>
              <a:latin typeface="Calibri" panose="020F0502020204030204"/>
            </a:endParaRP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406640" y="3840480"/>
          <a:ext cx="4389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Confusion Matrix (cell 34)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Pred No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Pred Yes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Actual No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456  (TN)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258  (FP)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Actual Yes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141  (FN)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1,145 (TP)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411480" y="6217920"/>
            <a:ext cx="11384280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6217920"/>
            <a:ext cx="109728" cy="3657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263640"/>
            <a:ext cx="11109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Why?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111099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55B66"/>
                </a:solidFill>
                <a:latin typeface="Calibri" panose="020F0502020204030204"/>
              </a:rPr>
              <a:t>• Logistic Regression outputs a probability between 0 and 1; we threshold at 0.5 to get Yes / No.</a:t>
            </a:r>
            <a:endParaRPr sz="1100" b="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Model 1 (cont.) — Logistic Regression with Hyperparameter Tuning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14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Real cells 36–46 — GridSearchCV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676656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5836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Grid search — best parameters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6766560" cy="289864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64792"/>
            <a:ext cx="6675120" cy="28072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param_grid = {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   'C': [0.01, 0.1, 1, 10, 100],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   'penalty': ['l1', 'l2'],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   'solver': ['liblinear']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}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 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7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grid_search = GridSearchCV(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8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   LogisticRegression(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9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       C=0.00001, random_state=42, max_iter=1000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10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   ),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11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   param_grid=param_grid,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12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    cv=5, scoring='f1', n_jobs=-1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13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4709160"/>
            <a:ext cx="676656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65836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Fit and re-evaluate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4965192"/>
            <a:ext cx="6766560" cy="152704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927727"/>
            <a:ext cx="6675120" cy="14356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grid_search.fit(X_train, y_train)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print(grid_search.best_params_)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# → {'C': 1, 'penalty': 'l1', 'solver': 'liblinear'}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 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y_pred_after = grid_search.predict(X_test)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accuracy_score(y_test, y_pred_after)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7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precision_score(y_test, y_pred_after)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8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recall_score(y_test, y_pred_after)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9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f1_score(y_test, y_pred_after)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06640" y="1463040"/>
            <a:ext cx="224028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1463040"/>
            <a:ext cx="2240280" cy="914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600200"/>
            <a:ext cx="22402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Accuracy (after)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06640" y="1874520"/>
            <a:ext cx="224028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127390"/>
                </a:solidFill>
                <a:latin typeface="Calibri" panose="020F0502020204030204"/>
              </a:rPr>
              <a:t>0.85</a:t>
            </a:r>
            <a:endParaRPr sz="2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738360" y="1463040"/>
            <a:ext cx="205740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38360" y="1463040"/>
            <a:ext cx="2057400" cy="91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600200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F1 Score (after)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38360" y="1874520"/>
            <a:ext cx="2057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0B2E4F"/>
                </a:solidFill>
                <a:latin typeface="Calibri" panose="020F0502020204030204"/>
              </a:rPr>
              <a:t>0.88</a:t>
            </a:r>
            <a:endParaRPr sz="2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06640" y="2560320"/>
            <a:ext cx="224028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2560320"/>
            <a:ext cx="2240280" cy="9144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697480"/>
            <a:ext cx="22402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Precision (after)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06640" y="2971800"/>
            <a:ext cx="224028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Calibri" panose="020F0502020204030204"/>
              </a:rPr>
              <a:t>0.86</a:t>
            </a:r>
            <a:endParaRPr sz="24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738360" y="2560320"/>
            <a:ext cx="205740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38360" y="2560320"/>
            <a:ext cx="2057400" cy="9144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697480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Recall (after)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38360" y="2971800"/>
            <a:ext cx="2057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Calibri" panose="020F0502020204030204"/>
              </a:rPr>
              <a:t>0.90</a:t>
            </a:r>
            <a:endParaRPr sz="24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406640" y="3657600"/>
            <a:ext cx="4389120" cy="1280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6640" y="3657600"/>
            <a:ext cx="109728" cy="128016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37033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Best parameters (cell 39)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89520" y="404164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55B66"/>
                </a:solidFill>
                <a:latin typeface="Calibri" panose="020F0502020204030204"/>
              </a:rPr>
              <a:t>• C = 1   (inverse of regularisation strength)</a:t>
            </a:r>
            <a:endParaRPr sz="11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penalty = l1   (Lasso, drops weak features)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solver = liblinear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406640" y="5029200"/>
          <a:ext cx="4389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Metric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Before Tuning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After Tuning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Accuracy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0.80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0.85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Precision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0.82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0.86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Recall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0.89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0.90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F1 Score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0.85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0.88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Model 2 — Decision Tree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15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Real cells 55–59 — base model before tuning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676656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5836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Create, train, predict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6766560" cy="202996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64792"/>
            <a:ext cx="6675120" cy="193852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from sklearn.tree import DecisionTreeClassifier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 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decision_tree = DecisionTreeClassifier(random_state=42)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 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decision_tree.fit(X_train, y_train)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y_pred_dt = decision_tree.predict(X_test)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7  </a:t>
            </a:r>
            <a:r>
              <a:rPr sz="1300">
                <a:solidFill>
                  <a:srgbClr val="EAECF1"/>
                </a:solidFill>
                <a:latin typeface="Consolas" panose="020B0609020204030204"/>
              </a:rPr>
              <a:t>y_prob_dt = decision_tree.predict_proba(X_test)[:, 1]</a:t>
            </a:r>
            <a:endParaRPr sz="130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3840480"/>
            <a:ext cx="676656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65836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Evaluation metrics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4096512"/>
            <a:ext cx="6766560" cy="102412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42232"/>
            <a:ext cx="6675120" cy="93268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accuracy_dt  = accuracy_score(y_test, y_pred_dt)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precision_dt = precision_score(y_test, y_pred_dt)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recall_dt    = recall_score(y_test, y_pred_dt)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300" b="1">
                <a:solidFill>
                  <a:srgbClr val="FFD566"/>
                </a:solidFill>
                <a:latin typeface="Consolas" panose="020B0609020204030204"/>
              </a:rPr>
              <a:t>f1_dt        = f1_score(y_test, y_pred_dt)</a:t>
            </a:r>
            <a:endParaRPr sz="1300" b="1">
              <a:solidFill>
                <a:srgbClr val="FFD566"/>
              </a:solidFill>
              <a:latin typeface="Consolas" panose="020B0609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06640" y="1463040"/>
            <a:ext cx="224028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1463040"/>
            <a:ext cx="2240280" cy="914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600200"/>
            <a:ext cx="22402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Accuracy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06640" y="1874520"/>
            <a:ext cx="224028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127390"/>
                </a:solidFill>
                <a:latin typeface="Calibri" panose="020F0502020204030204"/>
              </a:rPr>
              <a:t>0.8130</a:t>
            </a:r>
            <a:endParaRPr sz="2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738360" y="1463040"/>
            <a:ext cx="205740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38360" y="1463040"/>
            <a:ext cx="2057400" cy="91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600200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F1 Score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38360" y="1874520"/>
            <a:ext cx="2057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0B2E4F"/>
                </a:solidFill>
                <a:latin typeface="Calibri" panose="020F0502020204030204"/>
              </a:rPr>
              <a:t>0.8528</a:t>
            </a:r>
            <a:endParaRPr sz="2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06640" y="2560320"/>
            <a:ext cx="224028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2560320"/>
            <a:ext cx="2240280" cy="9144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697480"/>
            <a:ext cx="22402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Precision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06640" y="2971800"/>
            <a:ext cx="224028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Calibri" panose="020F0502020204030204"/>
              </a:rPr>
              <a:t>0.8636</a:t>
            </a:r>
            <a:endParaRPr sz="24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738360" y="2560320"/>
            <a:ext cx="2057400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38360" y="2560320"/>
            <a:ext cx="2057400" cy="9144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697480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Recall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38360" y="2971800"/>
            <a:ext cx="2057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Calibri" panose="020F0502020204030204"/>
              </a:rPr>
              <a:t>0.8421</a:t>
            </a:r>
            <a:endParaRPr sz="24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406640" y="3703320"/>
            <a:ext cx="43891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703320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0B2E4F"/>
                </a:solidFill>
                <a:latin typeface="Calibri" panose="020F0502020204030204"/>
              </a:rPr>
              <a:t>Decision Tree Confusion Matrix (cell 58)</a:t>
            </a:r>
            <a:endParaRPr sz="1100" b="1">
              <a:solidFill>
                <a:srgbClr val="0B2E4F"/>
              </a:solidFill>
              <a:latin typeface="Calibri" panose="020F0502020204030204"/>
            </a:endParaRPr>
          </a:p>
        </p:txBody>
      </p:sp>
      <p:pic>
        <p:nvPicPr>
          <p:cNvPr id="34" name="Picture 33" descr="cell5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4041140"/>
            <a:ext cx="3383280" cy="1874519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11480" y="5257800"/>
            <a:ext cx="6766560" cy="11887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5257800"/>
            <a:ext cx="109728" cy="118872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303520"/>
            <a:ext cx="6492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Why a Decision Tree?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4360" y="5641848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55B66"/>
                </a:solidFill>
                <a:latin typeface="Calibri" panose="020F0502020204030204"/>
              </a:rPr>
              <a:t>• It handles non-linear relationships between features.</a:t>
            </a:r>
            <a:endParaRPr sz="11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Easy to visualise as a flowchart of Yes / No questions.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Serves as a strong baseline to compare with Logistic Regression.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Model Comparison — Tuned Decision Tree vs Logistic Regression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16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Real cells 62–64 + cell 46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676656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58368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Tuned Decision Tree — cell 62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6766560" cy="3456431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64792"/>
            <a:ext cx="6675120" cy="3364991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050" b="1">
                <a:solidFill>
                  <a:srgbClr val="FFD566"/>
                </a:solidFill>
                <a:latin typeface="Consolas" panose="020B0609020204030204"/>
              </a:rPr>
              <a:t>dt = DecisionTreeClassifier(random_state=42)</a:t>
            </a:r>
            <a:endParaRPr sz="105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 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050" b="1">
                <a:solidFill>
                  <a:srgbClr val="FFD566"/>
                </a:solidFill>
                <a:latin typeface="Consolas" panose="020B0609020204030204"/>
              </a:rPr>
              <a:t>param_grid_dt = {</a:t>
            </a:r>
            <a:endParaRPr sz="105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050" b="1">
                <a:solidFill>
                  <a:srgbClr val="FFD566"/>
                </a:solidFill>
                <a:latin typeface="Consolas" panose="020B0609020204030204"/>
              </a:rPr>
              <a:t>    'criterion': ['gini', 'entropy'],</a:t>
            </a:r>
            <a:endParaRPr sz="105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050" b="1">
                <a:solidFill>
                  <a:srgbClr val="FFD566"/>
                </a:solidFill>
                <a:latin typeface="Consolas" panose="020B0609020204030204"/>
              </a:rPr>
              <a:t>    'max_depth': [3, 5, 7, 10, None],</a:t>
            </a:r>
            <a:endParaRPr sz="105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050" b="1">
                <a:solidFill>
                  <a:srgbClr val="FFD566"/>
                </a:solidFill>
                <a:latin typeface="Consolas" panose="020B0609020204030204"/>
              </a:rPr>
              <a:t>    'min_samples_split': [2, 5, 10],</a:t>
            </a:r>
            <a:endParaRPr sz="105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7  </a:t>
            </a:r>
            <a:r>
              <a:rPr sz="1050" b="1">
                <a:solidFill>
                  <a:srgbClr val="FFD566"/>
                </a:solidFill>
                <a:latin typeface="Consolas" panose="020B0609020204030204"/>
              </a:rPr>
              <a:t>    'min_samples_leaf': [1, 2, 4]</a:t>
            </a:r>
            <a:endParaRPr sz="105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8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}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9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 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10  </a:t>
            </a:r>
            <a:r>
              <a:rPr sz="1050" b="1">
                <a:solidFill>
                  <a:srgbClr val="FFD566"/>
                </a:solidFill>
                <a:latin typeface="Consolas" panose="020B0609020204030204"/>
              </a:rPr>
              <a:t>grid_search_dt = GridSearchCV(</a:t>
            </a:r>
            <a:endParaRPr sz="105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11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    estimator=dt, param_grid=param_grid_dt,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12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    cv=5, scoring='f1', n_jobs=-1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13  </a:t>
            </a:r>
            <a:r>
              <a:rPr sz="1050" b="1">
                <a:solidFill>
                  <a:srgbClr val="FFD566"/>
                </a:solidFill>
                <a:latin typeface="Consolas" panose="020B0609020204030204"/>
              </a:rPr>
              <a:t>)</a:t>
            </a:r>
            <a:endParaRPr sz="105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14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grid_search_dt.fit(X_train, y_train)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15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best_dt = grid_search_dt.best_estimator_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16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y_pred_dt_tuned = best_dt.predict(X_test)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5285232"/>
            <a:ext cx="6766560" cy="11887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5285232"/>
            <a:ext cx="109728" cy="118872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330952"/>
            <a:ext cx="6492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Best DT parameters (cell 62 best_params_)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566928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55B66"/>
                </a:solidFill>
                <a:latin typeface="Calibri" panose="020F0502020204030204"/>
              </a:rPr>
              <a:t>• criterion = gini   max_depth = 5</a:t>
            </a:r>
            <a:endParaRPr sz="11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min_samples_split = 2   min_samples_leaf = 4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Best CV F1 = 0.8882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06640" y="1463040"/>
          <a:ext cx="4389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Model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Accuracy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F1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LR (base)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0.80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0.85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LR (tuned)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0.85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0.88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DT (base)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0.81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0.85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DT (tuned)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0.85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0.89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406640" y="4434840"/>
            <a:ext cx="224028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4434840"/>
            <a:ext cx="2240280" cy="914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572000"/>
            <a:ext cx="22402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DT Accuracy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06640" y="4846320"/>
            <a:ext cx="224028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127390"/>
                </a:solidFill>
                <a:latin typeface="Calibri" panose="020F0502020204030204"/>
              </a:rPr>
              <a:t>0.8515</a:t>
            </a:r>
            <a:endParaRPr sz="2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738360" y="4434840"/>
            <a:ext cx="205740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38360" y="4434840"/>
            <a:ext cx="2057400" cy="914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4572000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DT F1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38360" y="4846320"/>
            <a:ext cx="205740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0B2E4F"/>
                </a:solidFill>
                <a:latin typeface="Calibri" panose="020F0502020204030204"/>
              </a:rPr>
              <a:t>0.8894</a:t>
            </a:r>
            <a:endParaRPr sz="2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06640" y="5577840"/>
            <a:ext cx="2240280" cy="914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5577840"/>
            <a:ext cx="2240280" cy="9144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5715000"/>
            <a:ext cx="22402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DT Recall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06640" y="5989320"/>
            <a:ext cx="22402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Calibri" panose="020F0502020204030204"/>
              </a:rPr>
              <a:t>0.9285</a:t>
            </a:r>
            <a:endParaRPr sz="24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738360" y="5577840"/>
            <a:ext cx="2057400" cy="914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38360" y="5577840"/>
            <a:ext cx="2057400" cy="9144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5715000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Calibri" panose="020F0502020204030204"/>
              </a:rPr>
              <a:t>DT Prec.</a:t>
            </a:r>
            <a:endParaRPr sz="1200" b="1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738360" y="5989320"/>
            <a:ext cx="2057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Calibri" panose="020F0502020204030204"/>
              </a:rPr>
              <a:t>0.8535</a:t>
            </a:r>
            <a:endParaRPr sz="24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Step 7 — Predict for a New User Input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17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7390"/>
                </a:solidFill>
                <a:latin typeface="Calibri" panose="020F0502020204030204"/>
              </a:rPr>
              <a:t>Real cells 47–54 — actual FMCG sample input</a:t>
            </a:r>
            <a:endParaRPr sz="1400" b="1">
              <a:solidFill>
                <a:srgbClr val="127390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694944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7665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Collect a new investment — cell 47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6949440" cy="257860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64792"/>
            <a:ext cx="6858000" cy="2487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industry = input("Enter Industry: ")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revenue_growth   = float(input("Enter Revenue Growth (%): "))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profit_margin    = float(input("Enter Profit Margin (%): "))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debt_to_equity   = float(input("Enter Debt to Equity: "))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roe              = float(input("Enter ROE (%): "))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customer_growth  = float(input("Enter Customer Growth (%): "))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7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customer_retention = float(input("Enter Customer Retention (%): "))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8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business_risk    = input("Enter Business Risk (Low/Medium/High): ")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 9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expected_roi     = float(input("Enter Expected ROI (%): "))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10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investment_amount= float(input("Enter Investment Amount: "))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050">
                <a:solidFill>
                  <a:srgbClr val="6E768A"/>
                </a:solidFill>
                <a:latin typeface="Consolas" panose="020B0609020204030204"/>
              </a:rPr>
              <a:t>11  </a:t>
            </a:r>
            <a:r>
              <a:rPr sz="1050">
                <a:solidFill>
                  <a:srgbClr val="EAECF1"/>
                </a:solidFill>
                <a:latin typeface="Consolas" panose="020B0609020204030204"/>
              </a:rPr>
              <a:t>industry_growth  = float(input("Enter Industry Growth (%): "))</a:t>
            </a:r>
            <a:endParaRPr sz="1050">
              <a:solidFill>
                <a:srgbClr val="EAECF1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4389120"/>
            <a:ext cx="6949440" cy="256032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67665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Encode and predict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4645152"/>
            <a:ext cx="6949440" cy="1801368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90872"/>
            <a:ext cx="6858000" cy="170992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1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user_data = pd.DataFrame({ ... })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2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 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3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user_data['Industry']      = encoders['Industry'].transform(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4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   user_data['Industry'].str.strip())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5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user_data['Business_Risk'] = encoders['Business_Risk'].transform(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6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   user_data['Business_Risk'].str.strip())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7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user_data = user_data[X.columns]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8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 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 9  </a:t>
            </a:r>
            <a:r>
              <a:rPr sz="1100" b="1">
                <a:solidFill>
                  <a:srgbClr val="FFD566"/>
                </a:solidFill>
                <a:latin typeface="Consolas" panose="020B0609020204030204"/>
              </a:rPr>
              <a:t>prediction  = grid_search.predict(user_data)[0]</a:t>
            </a:r>
            <a:endParaRPr sz="1100" b="1">
              <a:solidFill>
                <a:srgbClr val="FFD566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100">
                <a:solidFill>
                  <a:srgbClr val="6E768A"/>
                </a:solidFill>
                <a:latin typeface="Consolas" panose="020B0609020204030204"/>
              </a:rPr>
              <a:t>10  </a:t>
            </a:r>
            <a:r>
              <a:rPr sz="1100">
                <a:solidFill>
                  <a:srgbClr val="EAECF1"/>
                </a:solidFill>
                <a:latin typeface="Consolas" panose="020B0609020204030204"/>
              </a:rPr>
              <a:t>probability = grid_search.predict_proba(user_data)[0][1]</a:t>
            </a:r>
            <a:endParaRPr sz="1100">
              <a:solidFill>
                <a:srgbClr val="EAECF1"/>
              </a:solidFill>
              <a:latin typeface="Consolas" panose="020B0609020204030204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98079" y="1463040"/>
          <a:ext cx="4297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Model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Prediction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Probability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LR (base)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Worthy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52.66 %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LR (tuned)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Worthy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73.38 %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DT (base)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Worthy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100.00 %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DT (tuned)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Worthy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B66"/>
                          </a:solidFill>
                          <a:latin typeface="Calibri" panose="020F0502020204030204"/>
                        </a:rPr>
                        <a:t>91.20 %</a:t>
                      </a:r>
                      <a:endParaRPr sz="1200">
                        <a:solidFill>
                          <a:srgbClr val="555B66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498079" y="4526280"/>
            <a:ext cx="429768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4526280"/>
            <a:ext cx="109728" cy="192024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457200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Live sample input (FMCG company)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59" y="4910328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555B66"/>
                </a:solidFill>
                <a:latin typeface="Calibri" panose="020F0502020204030204"/>
              </a:rPr>
              <a:t>• Revenue Growth 1.09 %, Profit 15.26 %, D/E 0.83.</a:t>
            </a:r>
            <a:endParaRPr sz="11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ROE 17.67 %, Customer Growth -2.93 %.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Business Risk = Low,  Expected ROI 14.26 %.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555B66"/>
                </a:solidFill>
                <a:latin typeface="Calibri" panose="020F0502020204030204"/>
              </a:rPr>
              <a:t>  • All four models classify it as Worthy.</a:t>
            </a:r>
            <a:endParaRPr sz="11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Business Insights &amp; Recommendations</a:t>
            </a:r>
            <a:endParaRPr sz="2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164592"/>
            <a:ext cx="502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Calibri" panose="020F0502020204030204"/>
              </a:rPr>
              <a:t>18</a:t>
            </a:r>
            <a:endParaRPr sz="14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669280" cy="5029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109728" cy="5029200"/>
          </a:xfrm>
          <a:prstGeom prst="rect">
            <a:avLst/>
          </a:prstGeom>
          <a:solidFill>
            <a:srgbClr val="127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394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Insights — what the data is telling us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1801368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555B66"/>
                </a:solidFill>
                <a:latin typeface="Calibri" panose="020F0502020204030204"/>
              </a:rPr>
              <a:t>• Expected ROI is the strongest separator.  Yes ≈ 17 %, No ≈ 10.7 %.</a:t>
            </a:r>
            <a:endParaRPr sz="1200" b="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Higher profit margin and higher revenue growth strongly raise the chance of being worthy.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High Debt-to-Equity pushes the decision towards Not-Worthy.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Low business risk + low market risk → overwhelming  Yes.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Technology and Healthcare industries have the highest 'Yes' counts.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The tuned Logistic Regression and the tuned Decision Tree both reach ~85 % accuracy, F1 ~ 0.88 – 0.89.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5440680" cy="5029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109728" cy="50292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63040"/>
            <a:ext cx="5166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Calibri" panose="020F0502020204030204"/>
              </a:rPr>
              <a:t>Business recommendations</a:t>
            </a:r>
            <a:endParaRPr sz="13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7960" y="1801368"/>
            <a:ext cx="5166360" cy="1788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Use the Decision Tree to explain each prediction to non-technical stakeholders.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Prioritise deals with Expected ROI ≥ 15 % and Debt-to-Equity ≤ 0.85.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Avoid deals with High Business Risk or High Market Risk unless compensators are strong.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• Collect more granular features (deal size, sector, vintage) to push F1 above 0.90.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555B66"/>
                </a:solidFill>
                <a:latin typeface="Calibri" panose="020F0502020204030204"/>
              </a:rPr>
              <a:t>  </a:t>
            </a:r>
            <a:endParaRPr sz="1200">
              <a:solidFill>
                <a:srgbClr val="555B66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Calibri" panose="020F0502020204030204"/>
              </a:rPr>
              <a:t>Investment Worthy or Not  •  Machine Learning Project</a:t>
            </a:r>
            <a:endParaRPr sz="1000" b="0">
              <a:solidFill>
                <a:srgbClr val="555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457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 panose="020F0502020204030204"/>
              </a:rPr>
              <a:t>Conclusion</a:t>
            </a:r>
            <a:endParaRPr sz="5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E8B339"/>
                </a:solidFill>
                <a:latin typeface="Calibri" panose="020F0502020204030204"/>
              </a:rPr>
              <a:t>What we built, what it achieved, and what is next.</a:t>
            </a:r>
            <a:endParaRPr sz="2000" b="1">
              <a:solidFill>
                <a:srgbClr val="E8B339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447" y="365760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3657600"/>
            <a:ext cx="3474720" cy="45720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447" y="3657600"/>
            <a:ext cx="34747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0B2E4F"/>
                </a:solidFill>
                <a:latin typeface="Calibri" panose="020F0502020204030204"/>
              </a:rPr>
              <a:t>Built</a:t>
            </a:r>
            <a:endParaRPr sz="18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327" y="4206240"/>
            <a:ext cx="310896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0B2E4F"/>
                </a:solidFill>
                <a:latin typeface="Calibri" panose="020F0502020204030204"/>
              </a:rPr>
              <a:t>End-to-end ML pipeline:
loading → cleaning → EDA →
feature prep → modelling →
tuning → user prediction.</a:t>
            </a:r>
            <a:endParaRPr sz="1400" b="0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58487" y="365760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8487" y="3657600"/>
            <a:ext cx="3474720" cy="45720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8487" y="3657600"/>
            <a:ext cx="34747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0B2E4F"/>
                </a:solidFill>
                <a:latin typeface="Calibri" panose="020F0502020204030204"/>
              </a:rPr>
              <a:t>Achieved</a:t>
            </a:r>
            <a:endParaRPr sz="18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1367" y="4206240"/>
            <a:ext cx="310896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0B2E4F"/>
                </a:solidFill>
                <a:latin typeface="Calibri" panose="020F0502020204030204"/>
              </a:rPr>
              <a:t>Tuned Logistic Regression:
Accuracy 0.85  •  F1 0.88.
Tuned Decision Tree:
Accuracy 0.85  •  F1 0.89.</a:t>
            </a:r>
            <a:endParaRPr sz="1400" b="0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07527" y="365760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7527" y="3657600"/>
            <a:ext cx="3474720" cy="45720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527" y="3657600"/>
            <a:ext cx="34747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0B2E4F"/>
                </a:solidFill>
                <a:latin typeface="Calibri" panose="020F0502020204030204"/>
              </a:rPr>
              <a:t>Next</a:t>
            </a:r>
            <a:endParaRPr sz="1800" b="1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90407" y="4206240"/>
            <a:ext cx="310896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0B2E4F"/>
                </a:solidFill>
                <a:latin typeface="Calibri" panose="020F0502020204030204"/>
              </a:rPr>
              <a:t>Add more features,
try Random Forest / XGBoost,
deploy as a web form,
monitor drift over time.</a:t>
            </a:r>
            <a:endParaRPr sz="1400" b="0">
              <a:solidFill>
                <a:srgbClr val="0B2E4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Thank you  •  Questions and feedback welcome.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16278</Words>
  <Application>WPS Presentation</Application>
  <PresentationFormat>On-screen Show (4:3)</PresentationFormat>
  <Paragraphs>830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Consolas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Gungun Vijayvargiya</cp:lastModifiedBy>
  <cp:revision>2</cp:revision>
  <dcterms:created xsi:type="dcterms:W3CDTF">2013-01-27T09:14:00Z</dcterms:created>
  <dcterms:modified xsi:type="dcterms:W3CDTF">2026-09-23T16:57:56Z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C7191E601135465DA8CB75BD31CE2FA6_13</vt:lpwstr>
  </property>
</Properties>
</file>